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GIN TURKMEN" userId="227bfbee30a68000" providerId="LiveId" clId="{756C18F3-95E0-475E-972B-11A7BD3E0AB3}"/>
    <pc:docChg chg="modSld">
      <pc:chgData name="ENGIN TURKMEN" userId="227bfbee30a68000" providerId="LiveId" clId="{756C18F3-95E0-475E-972B-11A7BD3E0AB3}" dt="2026-05-27T17:43:10.891" v="7" actId="20577"/>
      <pc:docMkLst>
        <pc:docMk/>
      </pc:docMkLst>
      <pc:sldChg chg="modSp mod">
        <pc:chgData name="ENGIN TURKMEN" userId="227bfbee30a68000" providerId="LiveId" clId="{756C18F3-95E0-475E-972B-11A7BD3E0AB3}" dt="2026-05-27T17:42:53.593" v="3" actId="20577"/>
        <pc:sldMkLst>
          <pc:docMk/>
          <pc:sldMk cId="0" sldId="256"/>
        </pc:sldMkLst>
        <pc:spChg chg="mod">
          <ac:chgData name="ENGIN TURKMEN" userId="227bfbee30a68000" providerId="LiveId" clId="{756C18F3-95E0-475E-972B-11A7BD3E0AB3}" dt="2026-05-27T17:42:53.593" v="3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ENGIN TURKMEN" userId="227bfbee30a68000" providerId="LiveId" clId="{756C18F3-95E0-475E-972B-11A7BD3E0AB3}" dt="2026-05-27T17:43:10.891" v="7" actId="20577"/>
        <pc:sldMkLst>
          <pc:docMk/>
          <pc:sldMk cId="0" sldId="260"/>
        </pc:sldMkLst>
        <pc:spChg chg="mod">
          <ac:chgData name="ENGIN TURKMEN" userId="227bfbee30a68000" providerId="LiveId" clId="{756C18F3-95E0-475E-972B-11A7BD3E0AB3}" dt="2026-05-27T17:43:10.891" v="7" actId="20577"/>
          <ac:spMkLst>
            <pc:docMk/>
            <pc:sldMk cId="0" sldId="260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121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Copilot Agent from Scratch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10-step roadmap in Copilot Studio — from declarative agent to enterprise rollout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109155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109155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1947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995" y="208483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60604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Role &amp; Goal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063240"/>
            <a:ext cx="17433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Loan pre-qual triage. Scope, audience, success metric.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9235" y="1965960"/>
            <a:ext cx="2109155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49235" y="1965960"/>
            <a:ext cx="2109155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32115" y="2011680"/>
            <a:ext cx="11947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4030" y="208483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32115" y="260604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I/O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932115" y="3063240"/>
            <a:ext cx="17433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Cards + Power Fx entities. Every response is an API contract.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41270" y="1965960"/>
            <a:ext cx="2109155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041270" y="1965960"/>
            <a:ext cx="2109155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224150" y="2011680"/>
            <a:ext cx="11947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065" y="208483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24150" y="260604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&amp; Instructions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224150" y="3063240"/>
            <a:ext cx="17433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prompts, topic boundaries, MCP servers. Lock the persona.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333305" y="1965960"/>
            <a:ext cx="2109155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333305" y="1965960"/>
            <a:ext cx="2109155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7516185" y="2011680"/>
            <a:ext cx="11947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8100" y="208483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16185" y="260604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Actions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516185" y="3063240"/>
            <a:ext cx="17433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orchestration + Power Automate flows hitting PNC APIs.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9625340" y="1965960"/>
            <a:ext cx="2109155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9625340" y="1965960"/>
            <a:ext cx="2109155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9808220" y="2011680"/>
            <a:ext cx="11947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11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0135" y="208483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808220" y="260604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Routing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9808220" y="3063240"/>
            <a:ext cx="17433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hands off to KYC, Fraud, and Payments sub-agents.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57200" y="4251960"/>
            <a:ext cx="2109155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457200" y="4251960"/>
            <a:ext cx="2109155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640080" y="4297680"/>
            <a:ext cx="11947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11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1995" y="4370832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40080" y="489204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Context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40080" y="5349240"/>
            <a:ext cx="17433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 for customer state. Variables for session memory.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2749235" y="4251960"/>
            <a:ext cx="2109155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2749235" y="4251960"/>
            <a:ext cx="2109155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/>
          <p:nvPr/>
        </p:nvSpPr>
        <p:spPr>
          <a:xfrm>
            <a:off x="2932115" y="4297680"/>
            <a:ext cx="11947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</a:t>
            </a:r>
            <a:endParaRPr lang="en-US" sz="11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4030" y="4370832"/>
            <a:ext cx="274320" cy="27432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2932115" y="489204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Document AI</a:t>
            </a:r>
            <a:endParaRPr lang="en-US" sz="1300" dirty="0"/>
          </a:p>
        </p:txBody>
      </p:sp>
      <p:sp>
        <p:nvSpPr>
          <p:cNvPr id="46" name="Text 37"/>
          <p:cNvSpPr/>
          <p:nvPr/>
        </p:nvSpPr>
        <p:spPr>
          <a:xfrm>
            <a:off x="2932115" y="5349240"/>
            <a:ext cx="17433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voice channel + Document Intelligence for IDs and W-2s.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5041270" y="4251960"/>
            <a:ext cx="2109155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9"/>
          <p:cNvSpPr/>
          <p:nvPr/>
        </p:nvSpPr>
        <p:spPr>
          <a:xfrm>
            <a:off x="5041270" y="4251960"/>
            <a:ext cx="2109155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0"/>
          <p:cNvSpPr/>
          <p:nvPr/>
        </p:nvSpPr>
        <p:spPr>
          <a:xfrm>
            <a:off x="5224150" y="4297680"/>
            <a:ext cx="11947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08</a:t>
            </a:r>
            <a:endParaRPr lang="en-US" sz="11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6065" y="4370832"/>
            <a:ext cx="274320" cy="27432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5224150" y="489204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Output</a:t>
            </a:r>
            <a:endParaRPr lang="en-US" sz="1300" dirty="0"/>
          </a:p>
        </p:txBody>
      </p:sp>
      <p:sp>
        <p:nvSpPr>
          <p:cNvPr id="52" name="Text 42"/>
          <p:cNvSpPr/>
          <p:nvPr/>
        </p:nvSpPr>
        <p:spPr>
          <a:xfrm>
            <a:off x="5224150" y="5349240"/>
            <a:ext cx="17433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Cards in Teams. Markdown + audit-ready email summary.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7333305" y="4251960"/>
            <a:ext cx="2109155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44"/>
          <p:cNvSpPr/>
          <p:nvPr/>
        </p:nvSpPr>
        <p:spPr>
          <a:xfrm>
            <a:off x="7333305" y="4251960"/>
            <a:ext cx="2109155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5"/>
          <p:cNvSpPr/>
          <p:nvPr/>
        </p:nvSpPr>
        <p:spPr>
          <a:xfrm>
            <a:off x="7516185" y="4297680"/>
            <a:ext cx="11947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09</a:t>
            </a:r>
            <a:endParaRPr lang="en-US" sz="1100" dirty="0"/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8100" y="4370832"/>
            <a:ext cx="274320" cy="274320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7516185" y="489204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Channel</a:t>
            </a:r>
            <a:endParaRPr lang="en-US" sz="1300" dirty="0"/>
          </a:p>
        </p:txBody>
      </p:sp>
      <p:sp>
        <p:nvSpPr>
          <p:cNvPr id="58" name="Text 47"/>
          <p:cNvSpPr/>
          <p:nvPr/>
        </p:nvSpPr>
        <p:spPr>
          <a:xfrm>
            <a:off x="7516185" y="5349240"/>
            <a:ext cx="17433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app, SharePoint, or branded web. Entra ID for SSO.</a:t>
            </a:r>
            <a:endParaRPr lang="en-US" sz="1000" dirty="0"/>
          </a:p>
        </p:txBody>
      </p:sp>
      <p:sp>
        <p:nvSpPr>
          <p:cNvPr id="59" name="Shape 48"/>
          <p:cNvSpPr/>
          <p:nvPr/>
        </p:nvSpPr>
        <p:spPr>
          <a:xfrm>
            <a:off x="9625340" y="4251960"/>
            <a:ext cx="2109155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49"/>
          <p:cNvSpPr/>
          <p:nvPr/>
        </p:nvSpPr>
        <p:spPr>
          <a:xfrm>
            <a:off x="9625340" y="4251960"/>
            <a:ext cx="2109155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0"/>
          <p:cNvSpPr/>
          <p:nvPr/>
        </p:nvSpPr>
        <p:spPr>
          <a:xfrm>
            <a:off x="9808220" y="4297680"/>
            <a:ext cx="11947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100" dirty="0"/>
          </a:p>
        </p:txBody>
      </p:sp>
      <p:pic>
        <p:nvPicPr>
          <p:cNvPr id="6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40135" y="4370832"/>
            <a:ext cx="274320" cy="274320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9808220" y="4892040"/>
            <a:ext cx="1743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Monitor</a:t>
            </a:r>
            <a:endParaRPr lang="en-US" sz="1300" dirty="0"/>
          </a:p>
        </p:txBody>
      </p:sp>
      <p:sp>
        <p:nvSpPr>
          <p:cNvPr id="64" name="Text 52"/>
          <p:cNvSpPr/>
          <p:nvPr/>
        </p:nvSpPr>
        <p:spPr>
          <a:xfrm>
            <a:off x="9808220" y="5349240"/>
            <a:ext cx="17433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sessions, Admin Center analytics, Application Insights traces.</a:t>
            </a:r>
            <a:endParaRPr lang="en-US" sz="1000" dirty="0"/>
          </a:p>
        </p:txBody>
      </p:sp>
      <p:sp>
        <p:nvSpPr>
          <p:cNvPr id="65" name="Text 53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PNC Copilot Agent Playbook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Critical Layers of Production Copilot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behind banking-grade agents at PNC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6949440" cy="436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09728" cy="436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04724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47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34440" y="2065528"/>
            <a:ext cx="329184" cy="329184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" y="212039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206654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Schemas &amp; Validation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691640" y="2340864"/>
            <a:ext cx="5577840" cy="5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entities + Power Fx. Never let raw text reach the model.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494280"/>
            <a:ext cx="6949440" cy="436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494280"/>
            <a:ext cx="109728" cy="436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31520" y="252984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2529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234440" y="2548128"/>
            <a:ext cx="329184" cy="329184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2602992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91640" y="254914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691640" y="2823464"/>
            <a:ext cx="5577840" cy="5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SharePoint + Dataverse knowledge. Compact prompts ruthlessly.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57200" y="2976880"/>
            <a:ext cx="6949440" cy="436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57200" y="2976880"/>
            <a:ext cx="109728" cy="436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31520" y="301244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731520" y="3012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234440" y="3030728"/>
            <a:ext cx="329184" cy="329184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304" y="3085592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691640" y="303174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Planning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691640" y="3306064"/>
            <a:ext cx="5577840" cy="5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orchestration + deterministic topics where compliance demands.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57200" y="3459480"/>
            <a:ext cx="6949440" cy="436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57200" y="3459480"/>
            <a:ext cx="109728" cy="436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731520" y="349504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731520" y="3495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1234440" y="3513328"/>
            <a:ext cx="329184" cy="329184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9304" y="3568192"/>
            <a:ext cx="219456" cy="2194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691640" y="351434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State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1691640" y="3788664"/>
            <a:ext cx="5577840" cy="5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 for customer state. Variables for session. PII encrypted at rest.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57200" y="3942080"/>
            <a:ext cx="6949440" cy="436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457200" y="3942080"/>
            <a:ext cx="109728" cy="436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731520" y="397764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3152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1234440" y="3995928"/>
            <a:ext cx="329184" cy="329184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304" y="4050792"/>
            <a:ext cx="219456" cy="21945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691640" y="399694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&amp; Action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1691640" y="4271264"/>
            <a:ext cx="5577840" cy="5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1500+ connectors + custom MCP servers. Wrap PNC APIs with typed schemas.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457200" y="4424680"/>
            <a:ext cx="6949440" cy="436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457200" y="4424680"/>
            <a:ext cx="109728" cy="436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731520" y="446024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731520" y="446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Shape 42"/>
          <p:cNvSpPr/>
          <p:nvPr/>
        </p:nvSpPr>
        <p:spPr>
          <a:xfrm>
            <a:off x="1234440" y="4478528"/>
            <a:ext cx="329184" cy="329184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9304" y="4533392"/>
            <a:ext cx="219456" cy="219456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1691640" y="447954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52" name="Text 44"/>
          <p:cNvSpPr/>
          <p:nvPr/>
        </p:nvSpPr>
        <p:spPr>
          <a:xfrm>
            <a:off x="1691640" y="4753864"/>
            <a:ext cx="5577840" cy="5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hands off to KYC, Fraud, AML, and Payments sub-agents.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457200" y="4907280"/>
            <a:ext cx="6949440" cy="436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6"/>
          <p:cNvSpPr/>
          <p:nvPr/>
        </p:nvSpPr>
        <p:spPr>
          <a:xfrm>
            <a:off x="457200" y="4907280"/>
            <a:ext cx="109728" cy="436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7"/>
          <p:cNvSpPr/>
          <p:nvPr/>
        </p:nvSpPr>
        <p:spPr>
          <a:xfrm>
            <a:off x="731520" y="494284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/>
          <p:nvPr/>
        </p:nvSpPr>
        <p:spPr>
          <a:xfrm>
            <a:off x="731520" y="4942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7" name="Shape 49"/>
          <p:cNvSpPr/>
          <p:nvPr/>
        </p:nvSpPr>
        <p:spPr>
          <a:xfrm>
            <a:off x="1234440" y="4961128"/>
            <a:ext cx="329184" cy="329184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9304" y="5015992"/>
            <a:ext cx="219456" cy="219456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1691640" y="496214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Engine</a:t>
            </a:r>
            <a:endParaRPr lang="en-US" sz="1300" dirty="0"/>
          </a:p>
        </p:txBody>
      </p:sp>
      <p:sp>
        <p:nvSpPr>
          <p:cNvPr id="60" name="Text 51"/>
          <p:cNvSpPr/>
          <p:nvPr/>
        </p:nvSpPr>
        <p:spPr>
          <a:xfrm>
            <a:off x="1691640" y="5236464"/>
            <a:ext cx="5577840" cy="5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 on any decision &gt; threshold. Second-pass review.</a:t>
            </a:r>
            <a:endParaRPr lang="en-US" sz="1000" dirty="0"/>
          </a:p>
        </p:txBody>
      </p:sp>
      <p:sp>
        <p:nvSpPr>
          <p:cNvPr id="61" name="Shape 52"/>
          <p:cNvSpPr/>
          <p:nvPr/>
        </p:nvSpPr>
        <p:spPr>
          <a:xfrm>
            <a:off x="457200" y="5389880"/>
            <a:ext cx="6949440" cy="436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3"/>
          <p:cNvSpPr/>
          <p:nvPr/>
        </p:nvSpPr>
        <p:spPr>
          <a:xfrm>
            <a:off x="457200" y="5389880"/>
            <a:ext cx="109728" cy="436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4"/>
          <p:cNvSpPr/>
          <p:nvPr/>
        </p:nvSpPr>
        <p:spPr>
          <a:xfrm>
            <a:off x="731520" y="542544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5"/>
          <p:cNvSpPr/>
          <p:nvPr/>
        </p:nvSpPr>
        <p:spPr>
          <a:xfrm>
            <a:off x="731520" y="5425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5" name="Shape 56"/>
          <p:cNvSpPr/>
          <p:nvPr/>
        </p:nvSpPr>
        <p:spPr>
          <a:xfrm>
            <a:off x="1234440" y="5443728"/>
            <a:ext cx="329184" cy="329184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9304" y="5498592"/>
            <a:ext cx="219456" cy="219456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1691640" y="544474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Eval</a:t>
            </a:r>
            <a:endParaRPr lang="en-US" sz="1300" dirty="0"/>
          </a:p>
        </p:txBody>
      </p:sp>
      <p:sp>
        <p:nvSpPr>
          <p:cNvPr id="68" name="Text 58"/>
          <p:cNvSpPr/>
          <p:nvPr/>
        </p:nvSpPr>
        <p:spPr>
          <a:xfrm>
            <a:off x="1691640" y="5719064"/>
            <a:ext cx="5577840" cy="5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+ Admin Center. Trace every turn, cost, and latency.</a:t>
            </a:r>
            <a:endParaRPr lang="en-US" sz="1000" dirty="0"/>
          </a:p>
        </p:txBody>
      </p:sp>
      <p:sp>
        <p:nvSpPr>
          <p:cNvPr id="69" name="Shape 59"/>
          <p:cNvSpPr/>
          <p:nvPr/>
        </p:nvSpPr>
        <p:spPr>
          <a:xfrm>
            <a:off x="457200" y="5872480"/>
            <a:ext cx="6949440" cy="436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0"/>
          <p:cNvSpPr/>
          <p:nvPr/>
        </p:nvSpPr>
        <p:spPr>
          <a:xfrm>
            <a:off x="457200" y="5872480"/>
            <a:ext cx="109728" cy="436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1"/>
          <p:cNvSpPr/>
          <p:nvPr/>
        </p:nvSpPr>
        <p:spPr>
          <a:xfrm>
            <a:off x="731520" y="590804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2"/>
          <p:cNvSpPr/>
          <p:nvPr/>
        </p:nvSpPr>
        <p:spPr>
          <a:xfrm>
            <a:off x="731520" y="5908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73" name="Shape 63"/>
          <p:cNvSpPr/>
          <p:nvPr/>
        </p:nvSpPr>
        <p:spPr>
          <a:xfrm>
            <a:off x="1234440" y="5926328"/>
            <a:ext cx="329184" cy="329184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9304" y="5981192"/>
            <a:ext cx="219456" cy="219456"/>
          </a:xfrm>
          <a:prstGeom prst="rect">
            <a:avLst/>
          </a:prstGeom>
        </p:spPr>
      </p:pic>
      <p:sp>
        <p:nvSpPr>
          <p:cNvPr id="75" name="Text 64"/>
          <p:cNvSpPr/>
          <p:nvPr/>
        </p:nvSpPr>
        <p:spPr>
          <a:xfrm>
            <a:off x="1691640" y="592734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Safety</a:t>
            </a:r>
            <a:endParaRPr lang="en-US" sz="1300" dirty="0"/>
          </a:p>
        </p:txBody>
      </p:sp>
      <p:sp>
        <p:nvSpPr>
          <p:cNvPr id="76" name="Text 65"/>
          <p:cNvSpPr/>
          <p:nvPr/>
        </p:nvSpPr>
        <p:spPr>
          <a:xfrm>
            <a:off x="1691640" y="6201664"/>
            <a:ext cx="5577840" cy="5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policies, Entra ID, content moderation, environment isolation per LOB.</a:t>
            </a:r>
            <a:endParaRPr lang="en-US" sz="1000" dirty="0"/>
          </a:p>
        </p:txBody>
      </p:sp>
      <p:sp>
        <p:nvSpPr>
          <p:cNvPr id="77" name="Shape 66"/>
          <p:cNvSpPr/>
          <p:nvPr/>
        </p:nvSpPr>
        <p:spPr>
          <a:xfrm>
            <a:off x="7772400" y="2011680"/>
            <a:ext cx="3962095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Text 67"/>
          <p:cNvSpPr/>
          <p:nvPr/>
        </p:nvSpPr>
        <p:spPr>
          <a:xfrm>
            <a:off x="8046720" y="2240280"/>
            <a:ext cx="34134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0" dirty="0"/>
          </a:p>
        </p:txBody>
      </p:sp>
      <p:sp>
        <p:nvSpPr>
          <p:cNvPr id="79" name="Text 68"/>
          <p:cNvSpPr/>
          <p:nvPr/>
        </p:nvSpPr>
        <p:spPr>
          <a:xfrm>
            <a:off x="8046720" y="356616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banking demands</a:t>
            </a:r>
            <a:endParaRPr lang="en-US" sz="1200" dirty="0"/>
          </a:p>
        </p:txBody>
      </p:sp>
      <p:sp>
        <p:nvSpPr>
          <p:cNvPr id="80" name="Text 69"/>
          <p:cNvSpPr/>
          <p:nvPr/>
        </p:nvSpPr>
        <p:spPr>
          <a:xfrm>
            <a:off x="8046720" y="3931920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architecture = audit findings.</a:t>
            </a:r>
            <a:endParaRPr lang="en-US" sz="1100" dirty="0"/>
          </a:p>
        </p:txBody>
      </p:sp>
      <p:sp>
        <p:nvSpPr>
          <p:cNvPr id="81" name="Shape 70"/>
          <p:cNvSpPr/>
          <p:nvPr/>
        </p:nvSpPr>
        <p:spPr>
          <a:xfrm>
            <a:off x="8046720" y="4343400"/>
            <a:ext cx="3413455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1"/>
          <p:cNvSpPr/>
          <p:nvPr/>
        </p:nvSpPr>
        <p:spPr>
          <a:xfrm>
            <a:off x="8046720" y="45994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2"/>
          <p:cNvSpPr/>
          <p:nvPr/>
        </p:nvSpPr>
        <p:spPr>
          <a:xfrm>
            <a:off x="8321040" y="452628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1-3</a:t>
            </a:r>
            <a:endParaRPr lang="en-US" sz="1200" dirty="0"/>
          </a:p>
        </p:txBody>
      </p:sp>
      <p:sp>
        <p:nvSpPr>
          <p:cNvPr id="84" name="Text 73"/>
          <p:cNvSpPr/>
          <p:nvPr/>
        </p:nvSpPr>
        <p:spPr>
          <a:xfrm>
            <a:off x="8321040" y="480060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input, context, reasoning</a:t>
            </a:r>
            <a:endParaRPr lang="en-US" sz="950" dirty="0"/>
          </a:p>
        </p:txBody>
      </p:sp>
      <p:sp>
        <p:nvSpPr>
          <p:cNvPr id="85" name="Shape 74"/>
          <p:cNvSpPr/>
          <p:nvPr/>
        </p:nvSpPr>
        <p:spPr>
          <a:xfrm>
            <a:off x="8046720" y="519379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75"/>
          <p:cNvSpPr/>
          <p:nvPr/>
        </p:nvSpPr>
        <p:spPr>
          <a:xfrm>
            <a:off x="8321040" y="512064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4-6</a:t>
            </a:r>
            <a:endParaRPr lang="en-US" sz="1200" dirty="0"/>
          </a:p>
        </p:txBody>
      </p:sp>
      <p:sp>
        <p:nvSpPr>
          <p:cNvPr id="87" name="Text 76"/>
          <p:cNvSpPr/>
          <p:nvPr/>
        </p:nvSpPr>
        <p:spPr>
          <a:xfrm>
            <a:off x="8321040" y="539496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engine: memory, tools, orchestration</a:t>
            </a:r>
            <a:endParaRPr lang="en-US" sz="950" dirty="0"/>
          </a:p>
        </p:txBody>
      </p:sp>
      <p:sp>
        <p:nvSpPr>
          <p:cNvPr id="88" name="Shape 77"/>
          <p:cNvSpPr/>
          <p:nvPr/>
        </p:nvSpPr>
        <p:spPr>
          <a:xfrm>
            <a:off x="8046720" y="578815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78"/>
          <p:cNvSpPr/>
          <p:nvPr/>
        </p:nvSpPr>
        <p:spPr>
          <a:xfrm>
            <a:off x="8321040" y="571500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7-9</a:t>
            </a:r>
            <a:endParaRPr lang="en-US" sz="1200" dirty="0"/>
          </a:p>
        </p:txBody>
      </p:sp>
      <p:sp>
        <p:nvSpPr>
          <p:cNvPr id="90" name="Text 79"/>
          <p:cNvSpPr/>
          <p:nvPr/>
        </p:nvSpPr>
        <p:spPr>
          <a:xfrm>
            <a:off x="8321040" y="598932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layer: reflexion, telemetry, safety</a:t>
            </a:r>
            <a:endParaRPr lang="en-US" sz="950" dirty="0"/>
          </a:p>
        </p:txBody>
      </p:sp>
      <p:sp>
        <p:nvSpPr>
          <p:cNvPr id="91" name="Text 80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PNC Copilot Agent Playbook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Engineering: Feature Engineering for Copilot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foundations for engineering what your agent remembers and focuses 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684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91440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640080" cy="64008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77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94128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77240" y="301752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Context Engineering?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65760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managing what your Copilot Agent remembers and focuses on. Feature engineering — for agents.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26816" y="1965960"/>
            <a:ext cx="26684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26816" y="1965960"/>
            <a:ext cx="91440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46856" y="2240280"/>
            <a:ext cx="640080" cy="64008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016" y="23774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63744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3646856" y="301752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at PNC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646856" y="365760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agent forgets the customer ID, misuses connectors, hallucinates a balance, drifts off policy.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196432" y="1965960"/>
            <a:ext cx="26684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196432" y="1965960"/>
            <a:ext cx="91440" cy="2057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516472" y="2240280"/>
            <a:ext cx="640080" cy="64008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632" y="237744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33359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6516472" y="301752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Core Techniques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516472" y="365760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Dataverse • Select from knowledge sources • Compress with summary flows • Isolate via sub-agents.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066047" y="1965960"/>
            <a:ext cx="26684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9066047" y="1965960"/>
            <a:ext cx="91440" cy="2057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386087" y="2240280"/>
            <a:ext cx="640080" cy="64008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3247" y="237744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002975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9386087" y="301752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Context Sources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9386087" y="365760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instructions, SharePoint and Dataverse knowledge, conversation variables, connector responses.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57200" y="4251960"/>
            <a:ext cx="26684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457200" y="4251960"/>
            <a:ext cx="91440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777240" y="4526280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663440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2394128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8" name="Text 31"/>
          <p:cNvSpPr/>
          <p:nvPr/>
        </p:nvSpPr>
        <p:spPr>
          <a:xfrm>
            <a:off x="777240" y="530352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777240" y="594360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Token-stuffing every doc, skipping Dataverse, no summarization, mixing customer scopes across topics.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3326816" y="4251960"/>
            <a:ext cx="26684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3326816" y="4251960"/>
            <a:ext cx="91440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3646856" y="4526280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4016" y="4663440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263744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45" name="Text 37"/>
          <p:cNvSpPr/>
          <p:nvPr/>
        </p:nvSpPr>
        <p:spPr>
          <a:xfrm>
            <a:off x="3646856" y="530352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400" dirty="0"/>
          </a:p>
        </p:txBody>
      </p:sp>
      <p:sp>
        <p:nvSpPr>
          <p:cNvPr id="46" name="Text 38"/>
          <p:cNvSpPr/>
          <p:nvPr/>
        </p:nvSpPr>
        <p:spPr>
          <a:xfrm>
            <a:off x="3646856" y="594360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troubleshooting chains, KYC reviews, AML triage, long advisory sessions, any token-limit hit.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6196432" y="4251960"/>
            <a:ext cx="26684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0"/>
          <p:cNvSpPr/>
          <p:nvPr/>
        </p:nvSpPr>
        <p:spPr>
          <a:xfrm>
            <a:off x="6196432" y="4251960"/>
            <a:ext cx="91440" cy="2057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6516472" y="4526280"/>
            <a:ext cx="640080" cy="64008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3632" y="4663440"/>
            <a:ext cx="365760" cy="36576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8133359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52" name="Text 43"/>
          <p:cNvSpPr/>
          <p:nvPr/>
        </p:nvSpPr>
        <p:spPr>
          <a:xfrm>
            <a:off x="6516472" y="530352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Scalability</a:t>
            </a:r>
            <a:endParaRPr lang="en-US" sz="1400" dirty="0"/>
          </a:p>
        </p:txBody>
      </p:sp>
      <p:sp>
        <p:nvSpPr>
          <p:cNvPr id="53" name="Text 44"/>
          <p:cNvSpPr/>
          <p:nvPr/>
        </p:nvSpPr>
        <p:spPr>
          <a:xfrm>
            <a:off x="6516472" y="594360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hallucination on customer data, sound reasoning over PNC policy, complex case handling, orchestration.</a:t>
            </a:r>
            <a:endParaRPr lang="en-US" sz="1050" dirty="0"/>
          </a:p>
        </p:txBody>
      </p:sp>
      <p:sp>
        <p:nvSpPr>
          <p:cNvPr id="54" name="Shape 45"/>
          <p:cNvSpPr/>
          <p:nvPr/>
        </p:nvSpPr>
        <p:spPr>
          <a:xfrm>
            <a:off x="9066047" y="4251960"/>
            <a:ext cx="266844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6"/>
          <p:cNvSpPr/>
          <p:nvPr/>
        </p:nvSpPr>
        <p:spPr>
          <a:xfrm>
            <a:off x="9066047" y="4251960"/>
            <a:ext cx="91440" cy="2057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7"/>
          <p:cNvSpPr/>
          <p:nvPr/>
        </p:nvSpPr>
        <p:spPr>
          <a:xfrm>
            <a:off x="9386087" y="4526280"/>
            <a:ext cx="640080" cy="64008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3247" y="4663440"/>
            <a:ext cx="365760" cy="365760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11002975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59" name="Text 49"/>
          <p:cNvSpPr/>
          <p:nvPr/>
        </p:nvSpPr>
        <p:spPr>
          <a:xfrm>
            <a:off x="9386087" y="530352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</a:t>
            </a:r>
            <a:endParaRPr lang="en-US" sz="1400" dirty="0"/>
          </a:p>
        </p:txBody>
      </p:sp>
      <p:sp>
        <p:nvSpPr>
          <p:cNvPr id="60" name="Text 50"/>
          <p:cNvSpPr/>
          <p:nvPr/>
        </p:nvSpPr>
        <p:spPr>
          <a:xfrm>
            <a:off x="9386087" y="5943600"/>
            <a:ext cx="216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topic instructions → attach SharePoint knowledge → add Dataverse variables → test small, then grow.</a:t>
            </a:r>
            <a:endParaRPr lang="en-US" sz="1050" dirty="0"/>
          </a:p>
        </p:txBody>
      </p:sp>
      <p:sp>
        <p:nvSpPr>
          <p:cNvPr id="61" name="Text 51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PNC Copilot Agent Playbook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9436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Your Copilot Agent Before It Breaks Your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pain points builders hit — and the production-grade fix for each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524348" cy="7955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02920" cy="7955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7568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2020824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even know what a Copilot Agent is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45973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9888" y="2404872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+ memory + connectors + autonomy, wrapped in Microsoft governance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852928"/>
            <a:ext cx="5524348" cy="7955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7200" y="2852928"/>
            <a:ext cx="502920" cy="7955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57200" y="2852928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6265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89888" y="2907792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where to start in Copilot Studio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346704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89888" y="3291840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→ Structure → Prompt → Deliver. Build in layers, not all at once.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57200" y="3739896"/>
            <a:ext cx="5524348" cy="7955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457200" y="3739896"/>
            <a:ext cx="502920" cy="7955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457200" y="3739896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849624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89888" y="3794760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Confused: Copilot Studio? M365 Copilot? AI Foundry?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233672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9888" y="4178808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= business agents • M365 Copilot = productivity • Foundry = pro-code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57200" y="4626864"/>
            <a:ext cx="5524348" cy="7955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457200" y="4626864"/>
            <a:ext cx="502920" cy="7955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457200" y="4626864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736592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389888" y="4681728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behaves inconsistently across turns</a:t>
            </a:r>
            <a:endParaRPr lang="en-US" sz="10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120640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389888" y="5065776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instructions + system prompt + few-shot examples for the persona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457200" y="5513832"/>
            <a:ext cx="5524348" cy="7955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4"/>
          <p:cNvSpPr/>
          <p:nvPr/>
        </p:nvSpPr>
        <p:spPr>
          <a:xfrm>
            <a:off x="457200" y="5513832"/>
            <a:ext cx="502920" cy="7955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5"/>
          <p:cNvSpPr/>
          <p:nvPr/>
        </p:nvSpPr>
        <p:spPr>
          <a:xfrm>
            <a:off x="457200" y="5513832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623560"/>
            <a:ext cx="201168" cy="20116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389888" y="5568696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Meaningless replies — no real reasoning</a:t>
            </a:r>
            <a:endParaRPr lang="en-US" sz="105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6007608"/>
            <a:ext cx="201168" cy="20116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389888" y="5952744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orchestration + deterministic topics on high-stakes paths</a:t>
            </a:r>
            <a:endParaRPr lang="en-US" sz="1050" dirty="0"/>
          </a:p>
        </p:txBody>
      </p:sp>
      <p:sp>
        <p:nvSpPr>
          <p:cNvPr id="40" name="Shape 28"/>
          <p:cNvSpPr/>
          <p:nvPr/>
        </p:nvSpPr>
        <p:spPr>
          <a:xfrm>
            <a:off x="6210148" y="1965960"/>
            <a:ext cx="5524348" cy="7955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29"/>
          <p:cNvSpPr/>
          <p:nvPr/>
        </p:nvSpPr>
        <p:spPr>
          <a:xfrm>
            <a:off x="6210148" y="1965960"/>
            <a:ext cx="502920" cy="7955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0"/>
          <p:cNvSpPr/>
          <p:nvPr/>
        </p:nvSpPr>
        <p:spPr>
          <a:xfrm>
            <a:off x="6210148" y="1965960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228" y="2075688"/>
            <a:ext cx="201168" cy="20116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7142836" y="2020824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forgets the customer mid-conversation</a:t>
            </a:r>
            <a:endParaRPr lang="en-US" sz="105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228" y="2459736"/>
            <a:ext cx="201168" cy="201168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7142836" y="2404872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 for customer state + variables for session + sliding summarization</a:t>
            </a:r>
            <a:endParaRPr lang="en-US" sz="1050" dirty="0"/>
          </a:p>
        </p:txBody>
      </p:sp>
      <p:sp>
        <p:nvSpPr>
          <p:cNvPr id="47" name="Shape 33"/>
          <p:cNvSpPr/>
          <p:nvPr/>
        </p:nvSpPr>
        <p:spPr>
          <a:xfrm>
            <a:off x="6210148" y="2852928"/>
            <a:ext cx="5524348" cy="7955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34"/>
          <p:cNvSpPr/>
          <p:nvPr/>
        </p:nvSpPr>
        <p:spPr>
          <a:xfrm>
            <a:off x="6210148" y="2852928"/>
            <a:ext cx="502920" cy="7955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5"/>
          <p:cNvSpPr/>
          <p:nvPr/>
        </p:nvSpPr>
        <p:spPr>
          <a:xfrm>
            <a:off x="6210148" y="2852928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228" y="2962656"/>
            <a:ext cx="201168" cy="201168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7142836" y="2907792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setups loop or miscommunicate</a:t>
            </a:r>
            <a:endParaRPr lang="en-US" sz="105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228" y="3346704"/>
            <a:ext cx="201168" cy="20116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7142836" y="3291840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pattern + clear topic boundaries + handoff variables</a:t>
            </a:r>
            <a:endParaRPr lang="en-US" sz="1050" dirty="0"/>
          </a:p>
        </p:txBody>
      </p:sp>
      <p:sp>
        <p:nvSpPr>
          <p:cNvPr id="54" name="Shape 38"/>
          <p:cNvSpPr/>
          <p:nvPr/>
        </p:nvSpPr>
        <p:spPr>
          <a:xfrm>
            <a:off x="6210148" y="3739896"/>
            <a:ext cx="5524348" cy="7955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39"/>
          <p:cNvSpPr/>
          <p:nvPr/>
        </p:nvSpPr>
        <p:spPr>
          <a:xfrm>
            <a:off x="6210148" y="3739896"/>
            <a:ext cx="502920" cy="7955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0"/>
          <p:cNvSpPr/>
          <p:nvPr/>
        </p:nvSpPr>
        <p:spPr>
          <a:xfrm>
            <a:off x="6210148" y="3739896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228" y="3849624"/>
            <a:ext cx="201168" cy="201168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142836" y="3794760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messy blob, not audit-ready</a:t>
            </a:r>
            <a:endParaRPr lang="en-US" sz="1050" dirty="0"/>
          </a:p>
        </p:txBody>
      </p:sp>
      <p:pic>
        <p:nvPicPr>
          <p:cNvPr id="59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228" y="4233672"/>
            <a:ext cx="201168" cy="201168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7142836" y="4178808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Cards + JSON schemas + Power Fx formatting</a:t>
            </a:r>
            <a:endParaRPr lang="en-US" sz="1050" dirty="0"/>
          </a:p>
        </p:txBody>
      </p:sp>
      <p:sp>
        <p:nvSpPr>
          <p:cNvPr id="61" name="Shape 43"/>
          <p:cNvSpPr/>
          <p:nvPr/>
        </p:nvSpPr>
        <p:spPr>
          <a:xfrm>
            <a:off x="6210148" y="4626864"/>
            <a:ext cx="5524348" cy="7955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44"/>
          <p:cNvSpPr/>
          <p:nvPr/>
        </p:nvSpPr>
        <p:spPr>
          <a:xfrm>
            <a:off x="6210148" y="4626864"/>
            <a:ext cx="502920" cy="7955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45"/>
          <p:cNvSpPr/>
          <p:nvPr/>
        </p:nvSpPr>
        <p:spPr>
          <a:xfrm>
            <a:off x="6210148" y="4626864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228" y="4736592"/>
            <a:ext cx="201168" cy="201168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7142836" y="4681728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voice or document AI — how?</a:t>
            </a:r>
            <a:endParaRPr lang="en-US" sz="1050" dirty="0"/>
          </a:p>
        </p:txBody>
      </p:sp>
      <p:pic>
        <p:nvPicPr>
          <p:cNvPr id="66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228" y="5120640"/>
            <a:ext cx="201168" cy="201168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7142836" y="5065776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voice channel • Azure Document Intelligence for IDs, W-2s, forms</a:t>
            </a:r>
            <a:endParaRPr lang="en-US" sz="1050" dirty="0"/>
          </a:p>
        </p:txBody>
      </p:sp>
      <p:sp>
        <p:nvSpPr>
          <p:cNvPr id="68" name="Shape 48"/>
          <p:cNvSpPr/>
          <p:nvPr/>
        </p:nvSpPr>
        <p:spPr>
          <a:xfrm>
            <a:off x="6210148" y="5513832"/>
            <a:ext cx="5524348" cy="7955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F172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49"/>
          <p:cNvSpPr/>
          <p:nvPr/>
        </p:nvSpPr>
        <p:spPr>
          <a:xfrm>
            <a:off x="6210148" y="5513832"/>
            <a:ext cx="502920" cy="7955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50"/>
          <p:cNvSpPr/>
          <p:nvPr/>
        </p:nvSpPr>
        <p:spPr>
          <a:xfrm>
            <a:off x="6210148" y="5513832"/>
            <a:ext cx="502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pic>
        <p:nvPicPr>
          <p:cNvPr id="71" name="Image 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228" y="5623560"/>
            <a:ext cx="201168" cy="201168"/>
          </a:xfrm>
          <a:prstGeom prst="rect">
            <a:avLst/>
          </a:prstGeom>
        </p:spPr>
      </p:pic>
      <p:sp>
        <p:nvSpPr>
          <p:cNvPr id="72" name="Text 51"/>
          <p:cNvSpPr/>
          <p:nvPr/>
        </p:nvSpPr>
        <p:spPr>
          <a:xfrm>
            <a:off x="7142836" y="5568696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in dev — colleagues can't use it</a:t>
            </a:r>
            <a:endParaRPr lang="en-US" sz="1050" dirty="0"/>
          </a:p>
        </p:txBody>
      </p:sp>
      <p:pic>
        <p:nvPicPr>
          <p:cNvPr id="73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228" y="6007608"/>
            <a:ext cx="201168" cy="201168"/>
          </a:xfrm>
          <a:prstGeom prst="rect">
            <a:avLst/>
          </a:prstGeom>
        </p:spPr>
      </p:pic>
      <p:sp>
        <p:nvSpPr>
          <p:cNvPr id="74" name="Text 52"/>
          <p:cNvSpPr/>
          <p:nvPr/>
        </p:nvSpPr>
        <p:spPr>
          <a:xfrm>
            <a:off x="7142836" y="5952744"/>
            <a:ext cx="44545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Teams, SharePoint, or web with Entra ID single sign-on</a:t>
            </a:r>
            <a:endParaRPr lang="en-US" sz="1050" dirty="0"/>
          </a:p>
        </p:txBody>
      </p:sp>
      <p:sp>
        <p:nvSpPr>
          <p:cNvPr id="75" name="Text 53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PNC Copilot Agent Playbook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830</Words>
  <Application>Microsoft Office PowerPoint</Application>
  <PresentationFormat>Widescreen</PresentationFormat>
  <Paragraphs>136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PNC Copilot Agent Playbook</dc:title>
  <dc:subject>PptxGenJS Presentation</dc:subject>
  <dc:creator>Engin</dc:creator>
  <cp:lastModifiedBy>ENGIN TURKMEN</cp:lastModifiedBy>
  <cp:revision>2</cp:revision>
  <dcterms:created xsi:type="dcterms:W3CDTF">2026-05-26T23:06:27Z</dcterms:created>
  <dcterms:modified xsi:type="dcterms:W3CDTF">2026-05-27T17:43:15Z</dcterms:modified>
</cp:coreProperties>
</file>